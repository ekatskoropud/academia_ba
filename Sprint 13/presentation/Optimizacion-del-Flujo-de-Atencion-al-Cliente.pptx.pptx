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" charset="1" panose="020B0604020202020204"/>
      <p:regular r:id="rId24"/>
    </p:embeddedFont>
    <p:embeddedFont>
      <p:font typeface="Inter" charset="1" panose="02000503000000020004"/>
      <p:regular r:id="rId25"/>
    </p:embeddedFont>
    <p:embeddedFont>
      <p:font typeface="Inter Bold" charset="1" panose="02000503000000020004"/>
      <p:regular r:id="rId26"/>
    </p:embeddedFont>
    <p:embeddedFont>
      <p:font typeface="Arimo Bold" charset="1" panose="020B0704020202020204"/>
      <p:regular r:id="rId28"/>
    </p:embeddedFont>
    <p:embeddedFont>
      <p:font typeface="Open Sans" charset="1" panose="020B0606030504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374677"/>
            <a:ext cx="9445526" cy="177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Optimización del Flujo de Atención al Cliente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543252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Mediante Análisis de Datos y NLP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315819"/>
            <a:ext cx="9445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7CDD6"/>
                </a:solidFill>
                <a:latin typeface="Inter Bold"/>
                <a:ea typeface="Inter Bold"/>
                <a:cs typeface="Inter Bold"/>
                <a:sym typeface="Inter Bold"/>
              </a:rPr>
              <a:t>Autora:</a:t>
            </a: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 Ekaterina Sorokopudova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2418160"/>
            <a:ext cx="4580930" cy="3221385"/>
            <a:chOff x="0" y="0"/>
            <a:chExt cx="6107907" cy="4295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7811" cy="4295140"/>
            </a:xfrm>
            <a:custGeom>
              <a:avLst/>
              <a:gdLst/>
              <a:ahLst/>
              <a:cxnLst/>
              <a:rect r="r" b="b" t="t" l="l"/>
              <a:pathLst>
                <a:path h="4295140" w="6107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169" y="0"/>
                  </a:lnTo>
                  <a:cubicBezTo>
                    <a:pt x="6082538" y="0"/>
                    <a:pt x="6107811" y="25400"/>
                    <a:pt x="6107811" y="56642"/>
                  </a:cubicBezTo>
                  <a:lnTo>
                    <a:pt x="6107811" y="4238498"/>
                  </a:lnTo>
                  <a:cubicBezTo>
                    <a:pt x="6107811" y="4269867"/>
                    <a:pt x="6082411" y="4295140"/>
                    <a:pt x="6051169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856685" y="2418160"/>
            <a:ext cx="4581079" cy="3221385"/>
            <a:chOff x="0" y="0"/>
            <a:chExt cx="6108105" cy="42951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08065" cy="4295140"/>
            </a:xfrm>
            <a:custGeom>
              <a:avLst/>
              <a:gdLst/>
              <a:ahLst/>
              <a:cxnLst/>
              <a:rect r="r" b="b" t="t" l="l"/>
              <a:pathLst>
                <a:path h="4295140" w="6108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4238498"/>
                  </a:lnTo>
                  <a:cubicBezTo>
                    <a:pt x="6108065" y="4269867"/>
                    <a:pt x="6082665" y="4295140"/>
                    <a:pt x="6051423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5958482"/>
            <a:ext cx="4580930" cy="3221385"/>
            <a:chOff x="0" y="0"/>
            <a:chExt cx="6107907" cy="42951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07811" cy="4295140"/>
            </a:xfrm>
            <a:custGeom>
              <a:avLst/>
              <a:gdLst/>
              <a:ahLst/>
              <a:cxnLst/>
              <a:rect r="r" b="b" t="t" l="l"/>
              <a:pathLst>
                <a:path h="4295140" w="6107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169" y="0"/>
                  </a:lnTo>
                  <a:cubicBezTo>
                    <a:pt x="6082538" y="0"/>
                    <a:pt x="6107811" y="25400"/>
                    <a:pt x="6107811" y="56642"/>
                  </a:cubicBezTo>
                  <a:lnTo>
                    <a:pt x="6107811" y="4238498"/>
                  </a:lnTo>
                  <a:cubicBezTo>
                    <a:pt x="6107811" y="4269867"/>
                    <a:pt x="6082411" y="4295140"/>
                    <a:pt x="6051169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856685" y="5958482"/>
            <a:ext cx="4581079" cy="3221385"/>
            <a:chOff x="0" y="0"/>
            <a:chExt cx="6108105" cy="42951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08065" cy="4295140"/>
            </a:xfrm>
            <a:custGeom>
              <a:avLst/>
              <a:gdLst/>
              <a:ahLst/>
              <a:cxnLst/>
              <a:rect r="r" b="b" t="t" l="l"/>
              <a:pathLst>
                <a:path h="4295140" w="6108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4238498"/>
                  </a:lnTo>
                  <a:cubicBezTo>
                    <a:pt x="6108065" y="4269867"/>
                    <a:pt x="6082665" y="4295140"/>
                    <a:pt x="6051423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92238" y="1049834"/>
            <a:ext cx="7136904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Contexto del Negocio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5755" y="3797648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Tickets Multilingües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5755" y="4363045"/>
            <a:ext cx="4013895" cy="8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en diversos idiomas y urgencias.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40202" y="3797648"/>
            <a:ext cx="2640285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Etiquietas únicas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40202" y="4363045"/>
            <a:ext cx="4014044" cy="130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asignados manualmente por los consultores</a:t>
            </a:r>
          </a:p>
          <a:p>
            <a:pPr algn="l">
              <a:lnSpc>
                <a:spcPts val="3562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275755" y="7337971"/>
            <a:ext cx="2989362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Idiomas principales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40202" y="733797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Colas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40202" y="7903369"/>
            <a:ext cx="4014044" cy="86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definidas por procesos de negocio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5155" y="2610514"/>
            <a:ext cx="4580930" cy="105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7"/>
              </a:lnSpc>
              <a:spcBef>
                <a:spcPct val="0"/>
              </a:spcBef>
            </a:pPr>
            <a:r>
              <a:rPr lang="en-US" b="true" sz="6549">
                <a:solidFill>
                  <a:srgbClr val="FDC4C4"/>
                </a:solidFill>
                <a:latin typeface="Arimo Bold"/>
                <a:ea typeface="Arimo Bold"/>
                <a:cs typeface="Arimo Bold"/>
                <a:sym typeface="Arimo Bold"/>
              </a:rPr>
              <a:t>28 587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03316" y="2610514"/>
            <a:ext cx="4580930" cy="105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7"/>
              </a:lnSpc>
              <a:spcBef>
                <a:spcPct val="0"/>
              </a:spcBef>
            </a:pPr>
            <a:r>
              <a:rPr lang="en-US" b="true" sz="6549">
                <a:solidFill>
                  <a:srgbClr val="FDC4C4"/>
                </a:solidFill>
                <a:latin typeface="Arimo Bold"/>
                <a:ea typeface="Arimo Bold"/>
                <a:cs typeface="Arimo Bold"/>
                <a:sym typeface="Arimo Bold"/>
              </a:rPr>
              <a:t>&gt;1200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5789" y="6111810"/>
            <a:ext cx="2309766" cy="105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7"/>
              </a:lnSpc>
              <a:spcBef>
                <a:spcPct val="0"/>
              </a:spcBef>
            </a:pPr>
            <a:r>
              <a:rPr lang="en-US" b="true" sz="6549">
                <a:solidFill>
                  <a:srgbClr val="FDC4C4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17775" y="6111810"/>
            <a:ext cx="2309766" cy="105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7"/>
              </a:lnSpc>
              <a:spcBef>
                <a:spcPct val="0"/>
              </a:spcBef>
            </a:pPr>
            <a:r>
              <a:rPr lang="en-US" b="true" sz="6549">
                <a:solidFill>
                  <a:srgbClr val="FDC4C4"/>
                </a:solidFill>
                <a:latin typeface="Arimo Bold"/>
                <a:ea typeface="Arimo Bold"/>
                <a:cs typeface="Arimo Bold"/>
                <a:sym typeface="Arimo Bold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348781"/>
            <a:chOff x="0" y="0"/>
            <a:chExt cx="24384000" cy="446504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465066"/>
            </a:xfrm>
            <a:custGeom>
              <a:avLst/>
              <a:gdLst/>
              <a:ahLst/>
              <a:cxnLst/>
              <a:rect r="r" b="b" t="t" l="l"/>
              <a:pathLst>
                <a:path h="446506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465066"/>
                  </a:lnTo>
                  <a:lnTo>
                    <a:pt x="0" y="446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0" r="0" b="-5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37618" y="4037856"/>
            <a:ext cx="17350382" cy="250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0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Cómo afectan </a:t>
            </a:r>
            <a:r>
              <a:rPr lang="en-US" sz="5250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las colas definidas por los procesos de negocio</a:t>
            </a:r>
          </a:p>
          <a:p>
            <a:pPr algn="l">
              <a:lnSpc>
                <a:spcPts val="6562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18567" y="6035427"/>
            <a:ext cx="8110537" cy="1657945"/>
            <a:chOff x="0" y="0"/>
            <a:chExt cx="10814050" cy="22105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10763250" cy="2159762"/>
            </a:xfrm>
            <a:custGeom>
              <a:avLst/>
              <a:gdLst/>
              <a:ahLst/>
              <a:cxnLst/>
              <a:rect r="r" b="b" t="t" l="l"/>
              <a:pathLst>
                <a:path h="2159762" w="10763250">
                  <a:moveTo>
                    <a:pt x="0" y="243840"/>
                  </a:moveTo>
                  <a:cubicBezTo>
                    <a:pt x="0" y="109220"/>
                    <a:pt x="111252" y="0"/>
                    <a:pt x="248412" y="0"/>
                  </a:cubicBezTo>
                  <a:lnTo>
                    <a:pt x="10514838" y="0"/>
                  </a:lnTo>
                  <a:cubicBezTo>
                    <a:pt x="10651998" y="0"/>
                    <a:pt x="10763250" y="109220"/>
                    <a:pt x="10763250" y="243840"/>
                  </a:cubicBezTo>
                  <a:lnTo>
                    <a:pt x="10763250" y="1915922"/>
                  </a:lnTo>
                  <a:cubicBezTo>
                    <a:pt x="10763250" y="2050542"/>
                    <a:pt x="10651998" y="2159762"/>
                    <a:pt x="10514838" y="2159762"/>
                  </a:cubicBezTo>
                  <a:lnTo>
                    <a:pt x="248412" y="2159762"/>
                  </a:lnTo>
                  <a:cubicBezTo>
                    <a:pt x="111252" y="2159762"/>
                    <a:pt x="0" y="2050542"/>
                    <a:pt x="0" y="1915922"/>
                  </a:cubicBez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14050" cy="2210562"/>
            </a:xfrm>
            <a:custGeom>
              <a:avLst/>
              <a:gdLst/>
              <a:ahLst/>
              <a:cxnLst/>
              <a:rect r="r" b="b" t="t" l="l"/>
              <a:pathLst>
                <a:path h="2210562" w="10814050">
                  <a:moveTo>
                    <a:pt x="0" y="269240"/>
                  </a:moveTo>
                  <a:cubicBezTo>
                    <a:pt x="0" y="120142"/>
                    <a:pt x="123063" y="0"/>
                    <a:pt x="273812" y="0"/>
                  </a:cubicBezTo>
                  <a:lnTo>
                    <a:pt x="10540238" y="0"/>
                  </a:lnTo>
                  <a:lnTo>
                    <a:pt x="10540238" y="25400"/>
                  </a:lnTo>
                  <a:lnTo>
                    <a:pt x="10540238" y="0"/>
                  </a:lnTo>
                  <a:cubicBezTo>
                    <a:pt x="10690987" y="0"/>
                    <a:pt x="10814050" y="120142"/>
                    <a:pt x="10814050" y="269240"/>
                  </a:cubicBezTo>
                  <a:lnTo>
                    <a:pt x="10788650" y="269240"/>
                  </a:lnTo>
                  <a:lnTo>
                    <a:pt x="10814050" y="269240"/>
                  </a:lnTo>
                  <a:lnTo>
                    <a:pt x="10814050" y="1941322"/>
                  </a:lnTo>
                  <a:lnTo>
                    <a:pt x="10788650" y="1941322"/>
                  </a:lnTo>
                  <a:lnTo>
                    <a:pt x="10814050" y="1941322"/>
                  </a:lnTo>
                  <a:cubicBezTo>
                    <a:pt x="10814050" y="2090420"/>
                    <a:pt x="10690987" y="2210562"/>
                    <a:pt x="10540238" y="2210562"/>
                  </a:cubicBezTo>
                  <a:lnTo>
                    <a:pt x="10540238" y="2185162"/>
                  </a:lnTo>
                  <a:lnTo>
                    <a:pt x="10540238" y="2210562"/>
                  </a:lnTo>
                  <a:lnTo>
                    <a:pt x="273812" y="2210562"/>
                  </a:lnTo>
                  <a:lnTo>
                    <a:pt x="273812" y="2185162"/>
                  </a:lnTo>
                  <a:lnTo>
                    <a:pt x="273812" y="2210562"/>
                  </a:lnTo>
                  <a:cubicBezTo>
                    <a:pt x="123063" y="2210562"/>
                    <a:pt x="0" y="2090547"/>
                    <a:pt x="0" y="19413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41322"/>
                  </a:lnTo>
                  <a:lnTo>
                    <a:pt x="25400" y="1941322"/>
                  </a:lnTo>
                  <a:lnTo>
                    <a:pt x="50800" y="1941322"/>
                  </a:lnTo>
                  <a:cubicBezTo>
                    <a:pt x="50800" y="2061464"/>
                    <a:pt x="150241" y="2159762"/>
                    <a:pt x="273812" y="2159762"/>
                  </a:cubicBezTo>
                  <a:lnTo>
                    <a:pt x="10540238" y="2159762"/>
                  </a:lnTo>
                  <a:cubicBezTo>
                    <a:pt x="10663809" y="2159762"/>
                    <a:pt x="10763250" y="2061464"/>
                    <a:pt x="10763250" y="1941322"/>
                  </a:cubicBezTo>
                  <a:lnTo>
                    <a:pt x="10763250" y="269240"/>
                  </a:lnTo>
                  <a:cubicBezTo>
                    <a:pt x="10763250" y="149098"/>
                    <a:pt x="10663809" y="50800"/>
                    <a:pt x="10540238" y="50800"/>
                  </a:cubicBezTo>
                  <a:lnTo>
                    <a:pt x="273812" y="50800"/>
                  </a:lnTo>
                  <a:lnTo>
                    <a:pt x="273812" y="25400"/>
                  </a:lnTo>
                  <a:lnTo>
                    <a:pt x="273812" y="50800"/>
                  </a:lnTo>
                  <a:cubicBezTo>
                    <a:pt x="150241" y="50800"/>
                    <a:pt x="50800" y="149098"/>
                    <a:pt x="50800" y="269240"/>
                  </a:cubicBezTo>
                  <a:close/>
                </a:path>
              </a:pathLst>
            </a:custGeom>
            <a:solidFill>
              <a:srgbClr val="5C5C6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99517" y="6054477"/>
            <a:ext cx="152400" cy="1619845"/>
            <a:chOff x="0" y="0"/>
            <a:chExt cx="203200" cy="21597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200" cy="2159762"/>
            </a:xfrm>
            <a:custGeom>
              <a:avLst/>
              <a:gdLst/>
              <a:ahLst/>
              <a:cxnLst/>
              <a:rect r="r" b="b" t="t" l="l"/>
              <a:pathLst>
                <a:path h="2159762" w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49606" y="0"/>
                  </a:lnTo>
                  <a:cubicBezTo>
                    <a:pt x="179197" y="0"/>
                    <a:pt x="203200" y="24003"/>
                    <a:pt x="203200" y="53594"/>
                  </a:cubicBezTo>
                  <a:lnTo>
                    <a:pt x="203200" y="2106168"/>
                  </a:lnTo>
                  <a:cubicBezTo>
                    <a:pt x="203200" y="2135759"/>
                    <a:pt x="179197" y="2159762"/>
                    <a:pt x="149606" y="2159762"/>
                  </a:cubicBezTo>
                  <a:lnTo>
                    <a:pt x="53594" y="2159762"/>
                  </a:lnTo>
                  <a:cubicBezTo>
                    <a:pt x="24003" y="2159762"/>
                    <a:pt x="0" y="2135759"/>
                    <a:pt x="0" y="2106168"/>
                  </a:cubicBezTo>
                  <a:close/>
                </a:path>
              </a:pathLst>
            </a:custGeom>
            <a:solidFill>
              <a:srgbClr val="FDC4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357907" y="6331892"/>
            <a:ext cx="3348781" cy="44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Sobrecarga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7907" y="6844456"/>
            <a:ext cx="73461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Áreas críticas con exceso de trabajo.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8895" y="6035427"/>
            <a:ext cx="8110537" cy="1657945"/>
            <a:chOff x="0" y="0"/>
            <a:chExt cx="10814050" cy="22105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10763250" cy="2159762"/>
            </a:xfrm>
            <a:custGeom>
              <a:avLst/>
              <a:gdLst/>
              <a:ahLst/>
              <a:cxnLst/>
              <a:rect r="r" b="b" t="t" l="l"/>
              <a:pathLst>
                <a:path h="2159762" w="10763250">
                  <a:moveTo>
                    <a:pt x="0" y="243840"/>
                  </a:moveTo>
                  <a:cubicBezTo>
                    <a:pt x="0" y="109220"/>
                    <a:pt x="111252" y="0"/>
                    <a:pt x="248412" y="0"/>
                  </a:cubicBezTo>
                  <a:lnTo>
                    <a:pt x="10514838" y="0"/>
                  </a:lnTo>
                  <a:cubicBezTo>
                    <a:pt x="10651998" y="0"/>
                    <a:pt x="10763250" y="109220"/>
                    <a:pt x="10763250" y="243840"/>
                  </a:cubicBezTo>
                  <a:lnTo>
                    <a:pt x="10763250" y="1915922"/>
                  </a:lnTo>
                  <a:cubicBezTo>
                    <a:pt x="10763250" y="2050542"/>
                    <a:pt x="10651998" y="2159762"/>
                    <a:pt x="10514838" y="2159762"/>
                  </a:cubicBezTo>
                  <a:lnTo>
                    <a:pt x="248412" y="2159762"/>
                  </a:lnTo>
                  <a:cubicBezTo>
                    <a:pt x="111252" y="2159762"/>
                    <a:pt x="0" y="2050542"/>
                    <a:pt x="0" y="1915922"/>
                  </a:cubicBez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14050" cy="2210562"/>
            </a:xfrm>
            <a:custGeom>
              <a:avLst/>
              <a:gdLst/>
              <a:ahLst/>
              <a:cxnLst/>
              <a:rect r="r" b="b" t="t" l="l"/>
              <a:pathLst>
                <a:path h="2210562" w="10814050">
                  <a:moveTo>
                    <a:pt x="0" y="269240"/>
                  </a:moveTo>
                  <a:cubicBezTo>
                    <a:pt x="0" y="120142"/>
                    <a:pt x="123063" y="0"/>
                    <a:pt x="273812" y="0"/>
                  </a:cubicBezTo>
                  <a:lnTo>
                    <a:pt x="10540238" y="0"/>
                  </a:lnTo>
                  <a:lnTo>
                    <a:pt x="10540238" y="25400"/>
                  </a:lnTo>
                  <a:lnTo>
                    <a:pt x="10540238" y="0"/>
                  </a:lnTo>
                  <a:cubicBezTo>
                    <a:pt x="10690987" y="0"/>
                    <a:pt x="10814050" y="120142"/>
                    <a:pt x="10814050" y="269240"/>
                  </a:cubicBezTo>
                  <a:lnTo>
                    <a:pt x="10788650" y="269240"/>
                  </a:lnTo>
                  <a:lnTo>
                    <a:pt x="10814050" y="269240"/>
                  </a:lnTo>
                  <a:lnTo>
                    <a:pt x="10814050" y="1941322"/>
                  </a:lnTo>
                  <a:lnTo>
                    <a:pt x="10788650" y="1941322"/>
                  </a:lnTo>
                  <a:lnTo>
                    <a:pt x="10814050" y="1941322"/>
                  </a:lnTo>
                  <a:cubicBezTo>
                    <a:pt x="10814050" y="2090420"/>
                    <a:pt x="10690987" y="2210562"/>
                    <a:pt x="10540238" y="2210562"/>
                  </a:cubicBezTo>
                  <a:lnTo>
                    <a:pt x="10540238" y="2185162"/>
                  </a:lnTo>
                  <a:lnTo>
                    <a:pt x="10540238" y="2210562"/>
                  </a:lnTo>
                  <a:lnTo>
                    <a:pt x="273812" y="2210562"/>
                  </a:lnTo>
                  <a:lnTo>
                    <a:pt x="273812" y="2185162"/>
                  </a:lnTo>
                  <a:lnTo>
                    <a:pt x="273812" y="2210562"/>
                  </a:lnTo>
                  <a:cubicBezTo>
                    <a:pt x="123063" y="2210562"/>
                    <a:pt x="0" y="2090547"/>
                    <a:pt x="0" y="19413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41322"/>
                  </a:lnTo>
                  <a:lnTo>
                    <a:pt x="25400" y="1941322"/>
                  </a:lnTo>
                  <a:lnTo>
                    <a:pt x="50800" y="1941322"/>
                  </a:lnTo>
                  <a:cubicBezTo>
                    <a:pt x="50800" y="2061464"/>
                    <a:pt x="150241" y="2159762"/>
                    <a:pt x="273812" y="2159762"/>
                  </a:cubicBezTo>
                  <a:lnTo>
                    <a:pt x="10540238" y="2159762"/>
                  </a:lnTo>
                  <a:cubicBezTo>
                    <a:pt x="10663809" y="2159762"/>
                    <a:pt x="10763250" y="2061464"/>
                    <a:pt x="10763250" y="1941322"/>
                  </a:cubicBezTo>
                  <a:lnTo>
                    <a:pt x="10763250" y="269240"/>
                  </a:lnTo>
                  <a:cubicBezTo>
                    <a:pt x="10763250" y="149098"/>
                    <a:pt x="10663809" y="50800"/>
                    <a:pt x="10540238" y="50800"/>
                  </a:cubicBezTo>
                  <a:lnTo>
                    <a:pt x="273812" y="50800"/>
                  </a:lnTo>
                  <a:lnTo>
                    <a:pt x="273812" y="25400"/>
                  </a:lnTo>
                  <a:lnTo>
                    <a:pt x="273812" y="50800"/>
                  </a:lnTo>
                  <a:cubicBezTo>
                    <a:pt x="150241" y="50800"/>
                    <a:pt x="50800" y="149098"/>
                    <a:pt x="50800" y="269240"/>
                  </a:cubicBezTo>
                  <a:close/>
                </a:path>
              </a:pathLst>
            </a:custGeom>
            <a:solidFill>
              <a:srgbClr val="5C5C6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239845" y="6054477"/>
            <a:ext cx="152400" cy="1619845"/>
            <a:chOff x="0" y="0"/>
            <a:chExt cx="203200" cy="21597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" cy="2159762"/>
            </a:xfrm>
            <a:custGeom>
              <a:avLst/>
              <a:gdLst/>
              <a:ahLst/>
              <a:cxnLst/>
              <a:rect r="r" b="b" t="t" l="l"/>
              <a:pathLst>
                <a:path h="2159762" w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49606" y="0"/>
                  </a:lnTo>
                  <a:cubicBezTo>
                    <a:pt x="179197" y="0"/>
                    <a:pt x="203200" y="24003"/>
                    <a:pt x="203200" y="53594"/>
                  </a:cubicBezTo>
                  <a:lnTo>
                    <a:pt x="203200" y="2106168"/>
                  </a:lnTo>
                  <a:cubicBezTo>
                    <a:pt x="203200" y="2135759"/>
                    <a:pt x="179197" y="2159762"/>
                    <a:pt x="149606" y="2159762"/>
                  </a:cubicBezTo>
                  <a:lnTo>
                    <a:pt x="53594" y="2159762"/>
                  </a:lnTo>
                  <a:cubicBezTo>
                    <a:pt x="24003" y="2159762"/>
                    <a:pt x="0" y="2135759"/>
                    <a:pt x="0" y="2106168"/>
                  </a:cubicBezTo>
                  <a:close/>
                </a:path>
              </a:pathLst>
            </a:custGeom>
            <a:solidFill>
              <a:srgbClr val="FDC4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698236" y="6331892"/>
            <a:ext cx="3348781" cy="44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Demoras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8236" y="6844456"/>
            <a:ext cx="73461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Retrasos en la primera respuesta al cliente.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8567" y="7923162"/>
            <a:ext cx="8110537" cy="1657945"/>
            <a:chOff x="0" y="0"/>
            <a:chExt cx="10814050" cy="22105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10763250" cy="2159762"/>
            </a:xfrm>
            <a:custGeom>
              <a:avLst/>
              <a:gdLst/>
              <a:ahLst/>
              <a:cxnLst/>
              <a:rect r="r" b="b" t="t" l="l"/>
              <a:pathLst>
                <a:path h="2159762" w="10763250">
                  <a:moveTo>
                    <a:pt x="0" y="243840"/>
                  </a:moveTo>
                  <a:cubicBezTo>
                    <a:pt x="0" y="109220"/>
                    <a:pt x="111252" y="0"/>
                    <a:pt x="248412" y="0"/>
                  </a:cubicBezTo>
                  <a:lnTo>
                    <a:pt x="10514838" y="0"/>
                  </a:lnTo>
                  <a:cubicBezTo>
                    <a:pt x="10651998" y="0"/>
                    <a:pt x="10763250" y="109220"/>
                    <a:pt x="10763250" y="243840"/>
                  </a:cubicBezTo>
                  <a:lnTo>
                    <a:pt x="10763250" y="1915922"/>
                  </a:lnTo>
                  <a:cubicBezTo>
                    <a:pt x="10763250" y="2050542"/>
                    <a:pt x="10651998" y="2159762"/>
                    <a:pt x="10514838" y="2159762"/>
                  </a:cubicBezTo>
                  <a:lnTo>
                    <a:pt x="248412" y="2159762"/>
                  </a:lnTo>
                  <a:cubicBezTo>
                    <a:pt x="111252" y="2159762"/>
                    <a:pt x="0" y="2050542"/>
                    <a:pt x="0" y="1915922"/>
                  </a:cubicBez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14050" cy="2210562"/>
            </a:xfrm>
            <a:custGeom>
              <a:avLst/>
              <a:gdLst/>
              <a:ahLst/>
              <a:cxnLst/>
              <a:rect r="r" b="b" t="t" l="l"/>
              <a:pathLst>
                <a:path h="2210562" w="10814050">
                  <a:moveTo>
                    <a:pt x="0" y="269240"/>
                  </a:moveTo>
                  <a:cubicBezTo>
                    <a:pt x="0" y="120142"/>
                    <a:pt x="123063" y="0"/>
                    <a:pt x="273812" y="0"/>
                  </a:cubicBezTo>
                  <a:lnTo>
                    <a:pt x="10540238" y="0"/>
                  </a:lnTo>
                  <a:lnTo>
                    <a:pt x="10540238" y="25400"/>
                  </a:lnTo>
                  <a:lnTo>
                    <a:pt x="10540238" y="0"/>
                  </a:lnTo>
                  <a:cubicBezTo>
                    <a:pt x="10690987" y="0"/>
                    <a:pt x="10814050" y="120142"/>
                    <a:pt x="10814050" y="269240"/>
                  </a:cubicBezTo>
                  <a:lnTo>
                    <a:pt x="10788650" y="269240"/>
                  </a:lnTo>
                  <a:lnTo>
                    <a:pt x="10814050" y="269240"/>
                  </a:lnTo>
                  <a:lnTo>
                    <a:pt x="10814050" y="1941322"/>
                  </a:lnTo>
                  <a:lnTo>
                    <a:pt x="10788650" y="1941322"/>
                  </a:lnTo>
                  <a:lnTo>
                    <a:pt x="10814050" y="1941322"/>
                  </a:lnTo>
                  <a:cubicBezTo>
                    <a:pt x="10814050" y="2090420"/>
                    <a:pt x="10690987" y="2210562"/>
                    <a:pt x="10540238" y="2210562"/>
                  </a:cubicBezTo>
                  <a:lnTo>
                    <a:pt x="10540238" y="2185162"/>
                  </a:lnTo>
                  <a:lnTo>
                    <a:pt x="10540238" y="2210562"/>
                  </a:lnTo>
                  <a:lnTo>
                    <a:pt x="273812" y="2210562"/>
                  </a:lnTo>
                  <a:lnTo>
                    <a:pt x="273812" y="2185162"/>
                  </a:lnTo>
                  <a:lnTo>
                    <a:pt x="273812" y="2210562"/>
                  </a:lnTo>
                  <a:cubicBezTo>
                    <a:pt x="123063" y="2210562"/>
                    <a:pt x="0" y="2090547"/>
                    <a:pt x="0" y="19413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41322"/>
                  </a:lnTo>
                  <a:lnTo>
                    <a:pt x="25400" y="1941322"/>
                  </a:lnTo>
                  <a:lnTo>
                    <a:pt x="50800" y="1941322"/>
                  </a:lnTo>
                  <a:cubicBezTo>
                    <a:pt x="50800" y="2061464"/>
                    <a:pt x="150241" y="2159762"/>
                    <a:pt x="273812" y="2159762"/>
                  </a:cubicBezTo>
                  <a:lnTo>
                    <a:pt x="10540238" y="2159762"/>
                  </a:lnTo>
                  <a:cubicBezTo>
                    <a:pt x="10663809" y="2159762"/>
                    <a:pt x="10763250" y="2061464"/>
                    <a:pt x="10763250" y="1941322"/>
                  </a:cubicBezTo>
                  <a:lnTo>
                    <a:pt x="10763250" y="269240"/>
                  </a:lnTo>
                  <a:cubicBezTo>
                    <a:pt x="10763250" y="149098"/>
                    <a:pt x="10663809" y="50800"/>
                    <a:pt x="10540238" y="50800"/>
                  </a:cubicBezTo>
                  <a:lnTo>
                    <a:pt x="273812" y="50800"/>
                  </a:lnTo>
                  <a:lnTo>
                    <a:pt x="273812" y="25400"/>
                  </a:lnTo>
                  <a:lnTo>
                    <a:pt x="273812" y="50800"/>
                  </a:lnTo>
                  <a:cubicBezTo>
                    <a:pt x="150241" y="50800"/>
                    <a:pt x="50800" y="149098"/>
                    <a:pt x="50800" y="269240"/>
                  </a:cubicBezTo>
                  <a:close/>
                </a:path>
              </a:pathLst>
            </a:custGeom>
            <a:solidFill>
              <a:srgbClr val="5C5C6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99517" y="7942212"/>
            <a:ext cx="152400" cy="1619845"/>
            <a:chOff x="0" y="0"/>
            <a:chExt cx="203200" cy="21597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3200" cy="2159762"/>
            </a:xfrm>
            <a:custGeom>
              <a:avLst/>
              <a:gdLst/>
              <a:ahLst/>
              <a:cxnLst/>
              <a:rect r="r" b="b" t="t" l="l"/>
              <a:pathLst>
                <a:path h="2159762" w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49606" y="0"/>
                  </a:lnTo>
                  <a:cubicBezTo>
                    <a:pt x="179197" y="0"/>
                    <a:pt x="203200" y="24003"/>
                    <a:pt x="203200" y="53594"/>
                  </a:cubicBezTo>
                  <a:lnTo>
                    <a:pt x="203200" y="2106168"/>
                  </a:lnTo>
                  <a:cubicBezTo>
                    <a:pt x="203200" y="2135759"/>
                    <a:pt x="179197" y="2159762"/>
                    <a:pt x="149606" y="2159762"/>
                  </a:cubicBezTo>
                  <a:lnTo>
                    <a:pt x="53594" y="2159762"/>
                  </a:lnTo>
                  <a:cubicBezTo>
                    <a:pt x="24003" y="2159762"/>
                    <a:pt x="0" y="2135759"/>
                    <a:pt x="0" y="2106168"/>
                  </a:cubicBezTo>
                  <a:close/>
                </a:path>
              </a:pathLst>
            </a:custGeom>
            <a:solidFill>
              <a:srgbClr val="FDC4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357907" y="8219629"/>
            <a:ext cx="3348781" cy="44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Inconsistencia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7907" y="8732192"/>
            <a:ext cx="73461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Calidad de servicio variable.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58895" y="7923162"/>
            <a:ext cx="8110537" cy="1657945"/>
            <a:chOff x="0" y="0"/>
            <a:chExt cx="10814050" cy="22105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10763250" cy="2159762"/>
            </a:xfrm>
            <a:custGeom>
              <a:avLst/>
              <a:gdLst/>
              <a:ahLst/>
              <a:cxnLst/>
              <a:rect r="r" b="b" t="t" l="l"/>
              <a:pathLst>
                <a:path h="2159762" w="10763250">
                  <a:moveTo>
                    <a:pt x="0" y="243840"/>
                  </a:moveTo>
                  <a:cubicBezTo>
                    <a:pt x="0" y="109220"/>
                    <a:pt x="111252" y="0"/>
                    <a:pt x="248412" y="0"/>
                  </a:cubicBezTo>
                  <a:lnTo>
                    <a:pt x="10514838" y="0"/>
                  </a:lnTo>
                  <a:cubicBezTo>
                    <a:pt x="10651998" y="0"/>
                    <a:pt x="10763250" y="109220"/>
                    <a:pt x="10763250" y="243840"/>
                  </a:cubicBezTo>
                  <a:lnTo>
                    <a:pt x="10763250" y="1915922"/>
                  </a:lnTo>
                  <a:cubicBezTo>
                    <a:pt x="10763250" y="2050542"/>
                    <a:pt x="10651998" y="2159762"/>
                    <a:pt x="10514838" y="2159762"/>
                  </a:cubicBezTo>
                  <a:lnTo>
                    <a:pt x="248412" y="2159762"/>
                  </a:lnTo>
                  <a:cubicBezTo>
                    <a:pt x="111252" y="2159762"/>
                    <a:pt x="0" y="2050542"/>
                    <a:pt x="0" y="1915922"/>
                  </a:cubicBez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14050" cy="2210562"/>
            </a:xfrm>
            <a:custGeom>
              <a:avLst/>
              <a:gdLst/>
              <a:ahLst/>
              <a:cxnLst/>
              <a:rect r="r" b="b" t="t" l="l"/>
              <a:pathLst>
                <a:path h="2210562" w="10814050">
                  <a:moveTo>
                    <a:pt x="0" y="269240"/>
                  </a:moveTo>
                  <a:cubicBezTo>
                    <a:pt x="0" y="120142"/>
                    <a:pt x="123063" y="0"/>
                    <a:pt x="273812" y="0"/>
                  </a:cubicBezTo>
                  <a:lnTo>
                    <a:pt x="10540238" y="0"/>
                  </a:lnTo>
                  <a:lnTo>
                    <a:pt x="10540238" y="25400"/>
                  </a:lnTo>
                  <a:lnTo>
                    <a:pt x="10540238" y="0"/>
                  </a:lnTo>
                  <a:cubicBezTo>
                    <a:pt x="10690987" y="0"/>
                    <a:pt x="10814050" y="120142"/>
                    <a:pt x="10814050" y="269240"/>
                  </a:cubicBezTo>
                  <a:lnTo>
                    <a:pt x="10788650" y="269240"/>
                  </a:lnTo>
                  <a:lnTo>
                    <a:pt x="10814050" y="269240"/>
                  </a:lnTo>
                  <a:lnTo>
                    <a:pt x="10814050" y="1941322"/>
                  </a:lnTo>
                  <a:lnTo>
                    <a:pt x="10788650" y="1941322"/>
                  </a:lnTo>
                  <a:lnTo>
                    <a:pt x="10814050" y="1941322"/>
                  </a:lnTo>
                  <a:cubicBezTo>
                    <a:pt x="10814050" y="2090420"/>
                    <a:pt x="10690987" y="2210562"/>
                    <a:pt x="10540238" y="2210562"/>
                  </a:cubicBezTo>
                  <a:lnTo>
                    <a:pt x="10540238" y="2185162"/>
                  </a:lnTo>
                  <a:lnTo>
                    <a:pt x="10540238" y="2210562"/>
                  </a:lnTo>
                  <a:lnTo>
                    <a:pt x="273812" y="2210562"/>
                  </a:lnTo>
                  <a:lnTo>
                    <a:pt x="273812" y="2185162"/>
                  </a:lnTo>
                  <a:lnTo>
                    <a:pt x="273812" y="2210562"/>
                  </a:lnTo>
                  <a:cubicBezTo>
                    <a:pt x="123063" y="2210562"/>
                    <a:pt x="0" y="2090547"/>
                    <a:pt x="0" y="194132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1941322"/>
                  </a:lnTo>
                  <a:lnTo>
                    <a:pt x="25400" y="1941322"/>
                  </a:lnTo>
                  <a:lnTo>
                    <a:pt x="50800" y="1941322"/>
                  </a:lnTo>
                  <a:cubicBezTo>
                    <a:pt x="50800" y="2061464"/>
                    <a:pt x="150241" y="2159762"/>
                    <a:pt x="273812" y="2159762"/>
                  </a:cubicBezTo>
                  <a:lnTo>
                    <a:pt x="10540238" y="2159762"/>
                  </a:lnTo>
                  <a:cubicBezTo>
                    <a:pt x="10663809" y="2159762"/>
                    <a:pt x="10763250" y="2061464"/>
                    <a:pt x="10763250" y="1941322"/>
                  </a:cubicBezTo>
                  <a:lnTo>
                    <a:pt x="10763250" y="269240"/>
                  </a:lnTo>
                  <a:cubicBezTo>
                    <a:pt x="10763250" y="149098"/>
                    <a:pt x="10663809" y="50800"/>
                    <a:pt x="10540238" y="50800"/>
                  </a:cubicBezTo>
                  <a:lnTo>
                    <a:pt x="273812" y="50800"/>
                  </a:lnTo>
                  <a:lnTo>
                    <a:pt x="273812" y="25400"/>
                  </a:lnTo>
                  <a:lnTo>
                    <a:pt x="273812" y="50800"/>
                  </a:lnTo>
                  <a:cubicBezTo>
                    <a:pt x="150241" y="50800"/>
                    <a:pt x="50800" y="149098"/>
                    <a:pt x="50800" y="269240"/>
                  </a:cubicBezTo>
                  <a:close/>
                </a:path>
              </a:pathLst>
            </a:custGeom>
            <a:solidFill>
              <a:srgbClr val="5C5C6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239845" y="7942212"/>
            <a:ext cx="152400" cy="1619845"/>
            <a:chOff x="0" y="0"/>
            <a:chExt cx="203200" cy="21597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3200" cy="2159762"/>
            </a:xfrm>
            <a:custGeom>
              <a:avLst/>
              <a:gdLst/>
              <a:ahLst/>
              <a:cxnLst/>
              <a:rect r="r" b="b" t="t" l="l"/>
              <a:pathLst>
                <a:path h="2159762" w="203200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49606" y="0"/>
                  </a:lnTo>
                  <a:cubicBezTo>
                    <a:pt x="179197" y="0"/>
                    <a:pt x="203200" y="24003"/>
                    <a:pt x="203200" y="53594"/>
                  </a:cubicBezTo>
                  <a:lnTo>
                    <a:pt x="203200" y="2106168"/>
                  </a:lnTo>
                  <a:cubicBezTo>
                    <a:pt x="203200" y="2135759"/>
                    <a:pt x="179197" y="2159762"/>
                    <a:pt x="149606" y="2159762"/>
                  </a:cubicBezTo>
                  <a:lnTo>
                    <a:pt x="53594" y="2159762"/>
                  </a:lnTo>
                  <a:cubicBezTo>
                    <a:pt x="24003" y="2159762"/>
                    <a:pt x="0" y="2135759"/>
                    <a:pt x="0" y="2106168"/>
                  </a:cubicBezTo>
                  <a:close/>
                </a:path>
              </a:pathLst>
            </a:custGeom>
            <a:solidFill>
              <a:srgbClr val="FDC4C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698236" y="8219629"/>
            <a:ext cx="3348781" cy="44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Ineficiencia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98236" y="8732192"/>
            <a:ext cx="73461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Pérdida de eficiencia operativa general.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92238" y="2467719"/>
            <a:ext cx="1417588" cy="1701105"/>
            <a:chOff x="0" y="0"/>
            <a:chExt cx="1890117" cy="226814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5" r="1" b="-58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92238" y="4168825"/>
            <a:ext cx="1417588" cy="1701105"/>
            <a:chOff x="0" y="0"/>
            <a:chExt cx="1890117" cy="226814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" r="1" b="-58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92238" y="5869930"/>
            <a:ext cx="1417588" cy="1701105"/>
            <a:chOff x="0" y="0"/>
            <a:chExt cx="1890117" cy="226814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5" r="1" b="-5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92238" y="7571035"/>
            <a:ext cx="1417588" cy="1701105"/>
            <a:chOff x="0" y="0"/>
            <a:chExt cx="1890117" cy="226814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890141" cy="2268093"/>
            </a:xfrm>
            <a:custGeom>
              <a:avLst/>
              <a:gdLst/>
              <a:ahLst/>
              <a:cxnLst/>
              <a:rect r="r" b="b" t="t" l="l"/>
              <a:pathLst>
                <a:path h="2268093" w="1890141">
                  <a:moveTo>
                    <a:pt x="0" y="0"/>
                  </a:moveTo>
                  <a:lnTo>
                    <a:pt x="1890141" y="0"/>
                  </a:lnTo>
                  <a:lnTo>
                    <a:pt x="1890141" y="2268093"/>
                  </a:lnTo>
                  <a:lnTo>
                    <a:pt x="0" y="2268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5" r="1" b="-5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957560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Objetivo del Análisis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93342" y="271313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Evaluar Coherencia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93342" y="3278535"/>
            <a:ext cx="14602420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Contenido de tickets vs. colas asignadas.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93342" y="441424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Identificar Temas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93342" y="4979640"/>
            <a:ext cx="14602420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Grupos temáticos reales mediante análisis semántico.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93342" y="6115347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Mejorar Distribución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93342" y="6680746"/>
            <a:ext cx="14602420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Oportunidades para equilibrar la carga.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93342" y="7816454"/>
            <a:ext cx="480030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Viabilidad de Automatización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3342" y="8381851"/>
            <a:ext cx="14602420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Evaluar la posibilidad de asignación automática.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42309"/>
            <a:ext cx="10326291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Analisis</a:t>
            </a: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 y Problemas Detectados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57003" y="5469694"/>
            <a:ext cx="4857370" cy="4443181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41367" y="1803101"/>
            <a:ext cx="4438349" cy="444149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155" y="1199167"/>
            <a:ext cx="13958600" cy="9350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42309"/>
            <a:ext cx="10326291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Analisis</a:t>
            </a: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 y Problemas Detectados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166827" y="1581061"/>
            <a:ext cx="11237936" cy="8613733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3811" y="2915647"/>
            <a:ext cx="4961954" cy="5967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42309"/>
            <a:ext cx="10326291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Analisis</a:t>
            </a: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 y Problemas Detectados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006068"/>
            <a:ext cx="11937830" cy="7252232"/>
          </a:xfrm>
          <a:custGeom>
            <a:avLst/>
            <a:gdLst/>
            <a:ahLst/>
            <a:cxnLst/>
            <a:rect r="r" b="b" t="t" l="l"/>
            <a:pathLst>
              <a:path h="7252232" w="11937830">
                <a:moveTo>
                  <a:pt x="0" y="0"/>
                </a:moveTo>
                <a:lnTo>
                  <a:pt x="11937830" y="0"/>
                </a:lnTo>
                <a:lnTo>
                  <a:pt x="11937830" y="7252232"/>
                </a:lnTo>
                <a:lnTo>
                  <a:pt x="0" y="7252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34867" y="2561403"/>
            <a:ext cx="4431169" cy="341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2403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El wordcloud de las etiquetas menos usadas revela numerosas inconsistencias: errores tipográficos, etiquetas duplicadas, términos en varios idiomas y combinaciones escritas con comas.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34867" y="1779083"/>
            <a:ext cx="337475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Wordcloud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544044"/>
            <a:chOff x="0" y="0"/>
            <a:chExt cx="24384000" cy="472539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t="0" r="-1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796890"/>
            <a:ext cx="79136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Hallazgos Clave del EDA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5795665"/>
            <a:ext cx="8009930" cy="1633686"/>
            <a:chOff x="0" y="0"/>
            <a:chExt cx="10679907" cy="21782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9938" cy="2178177"/>
            </a:xfrm>
            <a:custGeom>
              <a:avLst/>
              <a:gdLst/>
              <a:ahLst/>
              <a:cxnLst/>
              <a:rect r="r" b="b" t="t" l="l"/>
              <a:pathLst>
                <a:path h="2178177" w="10679938">
                  <a:moveTo>
                    <a:pt x="0" y="907288"/>
                  </a:moveTo>
                  <a:cubicBezTo>
                    <a:pt x="0" y="406273"/>
                    <a:pt x="406273" y="0"/>
                    <a:pt x="907288" y="0"/>
                  </a:cubicBezTo>
                  <a:lnTo>
                    <a:pt x="9772650" y="0"/>
                  </a:lnTo>
                  <a:cubicBezTo>
                    <a:pt x="10273792" y="0"/>
                    <a:pt x="10679938" y="406273"/>
                    <a:pt x="10679938" y="907288"/>
                  </a:cubicBezTo>
                  <a:lnTo>
                    <a:pt x="10679938" y="1270889"/>
                  </a:lnTo>
                  <a:cubicBezTo>
                    <a:pt x="10679938" y="1772031"/>
                    <a:pt x="10273665" y="2178177"/>
                    <a:pt x="9772650" y="2178177"/>
                  </a:cubicBezTo>
                  <a:lnTo>
                    <a:pt x="907288" y="2178177"/>
                  </a:lnTo>
                  <a:cubicBezTo>
                    <a:pt x="406273" y="2178304"/>
                    <a:pt x="0" y="1772031"/>
                    <a:pt x="0" y="1270889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75755" y="6041082"/>
            <a:ext cx="3843933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Cola</a:t>
            </a: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 de Soporte Técnico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755" y="6606480"/>
            <a:ext cx="7442895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Recibe la mayor parte de los tickets.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5685" y="5795665"/>
            <a:ext cx="8010079" cy="1633686"/>
            <a:chOff x="0" y="0"/>
            <a:chExt cx="10680105" cy="2178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80065" cy="2178177"/>
            </a:xfrm>
            <a:custGeom>
              <a:avLst/>
              <a:gdLst/>
              <a:ahLst/>
              <a:cxnLst/>
              <a:rect r="r" b="b" t="t" l="l"/>
              <a:pathLst>
                <a:path h="2178177" w="10680065">
                  <a:moveTo>
                    <a:pt x="0" y="907288"/>
                  </a:moveTo>
                  <a:cubicBezTo>
                    <a:pt x="0" y="406273"/>
                    <a:pt x="406273" y="0"/>
                    <a:pt x="907288" y="0"/>
                  </a:cubicBezTo>
                  <a:lnTo>
                    <a:pt x="9772777" y="0"/>
                  </a:lnTo>
                  <a:cubicBezTo>
                    <a:pt x="10273919" y="0"/>
                    <a:pt x="10680065" y="406273"/>
                    <a:pt x="10680065" y="907288"/>
                  </a:cubicBezTo>
                  <a:lnTo>
                    <a:pt x="10680065" y="1270889"/>
                  </a:lnTo>
                  <a:cubicBezTo>
                    <a:pt x="10680065" y="1772031"/>
                    <a:pt x="10273792" y="2178177"/>
                    <a:pt x="9772777" y="2178177"/>
                  </a:cubicBezTo>
                  <a:lnTo>
                    <a:pt x="907288" y="2178177"/>
                  </a:lnTo>
                  <a:cubicBezTo>
                    <a:pt x="406273" y="2178304"/>
                    <a:pt x="0" y="1772031"/>
                    <a:pt x="0" y="1270889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569202" y="604108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Tickets Urgentes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69202" y="6606480"/>
            <a:ext cx="7443044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Frecuentemente dirigidos a colas sobrecargadas.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7712869"/>
            <a:ext cx="8009930" cy="1633686"/>
            <a:chOff x="0" y="0"/>
            <a:chExt cx="10679907" cy="21782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79938" cy="2178177"/>
            </a:xfrm>
            <a:custGeom>
              <a:avLst/>
              <a:gdLst/>
              <a:ahLst/>
              <a:cxnLst/>
              <a:rect r="r" b="b" t="t" l="l"/>
              <a:pathLst>
                <a:path h="2178177" w="10679938">
                  <a:moveTo>
                    <a:pt x="0" y="907288"/>
                  </a:moveTo>
                  <a:cubicBezTo>
                    <a:pt x="0" y="406273"/>
                    <a:pt x="406273" y="0"/>
                    <a:pt x="907288" y="0"/>
                  </a:cubicBezTo>
                  <a:lnTo>
                    <a:pt x="9772650" y="0"/>
                  </a:lnTo>
                  <a:cubicBezTo>
                    <a:pt x="10273792" y="0"/>
                    <a:pt x="10679938" y="406273"/>
                    <a:pt x="10679938" y="907288"/>
                  </a:cubicBezTo>
                  <a:lnTo>
                    <a:pt x="10679938" y="1270889"/>
                  </a:lnTo>
                  <a:cubicBezTo>
                    <a:pt x="10679938" y="1772031"/>
                    <a:pt x="10273665" y="2178177"/>
                    <a:pt x="9772650" y="2178177"/>
                  </a:cubicBezTo>
                  <a:lnTo>
                    <a:pt x="907288" y="2178177"/>
                  </a:lnTo>
                  <a:cubicBezTo>
                    <a:pt x="406273" y="2178304"/>
                    <a:pt x="0" y="1772031"/>
                    <a:pt x="0" y="1270889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75755" y="795828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Enfoque Multilingüe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5755" y="8523685"/>
            <a:ext cx="7442895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Necesario debido a idiomas equilibrados.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85685" y="7712869"/>
            <a:ext cx="8010079" cy="1633686"/>
            <a:chOff x="0" y="0"/>
            <a:chExt cx="10680105" cy="2178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80065" cy="2178177"/>
            </a:xfrm>
            <a:custGeom>
              <a:avLst/>
              <a:gdLst/>
              <a:ahLst/>
              <a:cxnLst/>
              <a:rect r="r" b="b" t="t" l="l"/>
              <a:pathLst>
                <a:path h="2178177" w="10680065">
                  <a:moveTo>
                    <a:pt x="0" y="907288"/>
                  </a:moveTo>
                  <a:cubicBezTo>
                    <a:pt x="0" y="406273"/>
                    <a:pt x="406273" y="0"/>
                    <a:pt x="907288" y="0"/>
                  </a:cubicBezTo>
                  <a:lnTo>
                    <a:pt x="9772777" y="0"/>
                  </a:lnTo>
                  <a:cubicBezTo>
                    <a:pt x="10273919" y="0"/>
                    <a:pt x="10680065" y="406273"/>
                    <a:pt x="10680065" y="907288"/>
                  </a:cubicBezTo>
                  <a:lnTo>
                    <a:pt x="10680065" y="1270889"/>
                  </a:lnTo>
                  <a:cubicBezTo>
                    <a:pt x="10680065" y="1772031"/>
                    <a:pt x="10273792" y="2178177"/>
                    <a:pt x="9772777" y="2178177"/>
                  </a:cubicBezTo>
                  <a:lnTo>
                    <a:pt x="907288" y="2178177"/>
                  </a:lnTo>
                  <a:cubicBezTo>
                    <a:pt x="406273" y="2178304"/>
                    <a:pt x="0" y="1772031"/>
                    <a:pt x="0" y="1270889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569202" y="7958286"/>
            <a:ext cx="447764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Baja Fiabilidad de Etiquetas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69202" y="8523685"/>
            <a:ext cx="7443044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Duplicados y errores tipográficos.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4701914"/>
            <a:ext cx="17259300" cy="87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756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Los p</a:t>
            </a:r>
            <a:r>
              <a:rPr lang="en-US" sz="2756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atrones observados en el EDA indican la necesidad de un análisis semántico que permita estructurar los tickets más allá de las colas actuales.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555921"/>
            <a:ext cx="8325937" cy="6702379"/>
          </a:xfrm>
          <a:custGeom>
            <a:avLst/>
            <a:gdLst/>
            <a:ahLst/>
            <a:cxnLst/>
            <a:rect r="r" b="b" t="t" l="l"/>
            <a:pathLst>
              <a:path h="6702379" w="8325937">
                <a:moveTo>
                  <a:pt x="0" y="0"/>
                </a:moveTo>
                <a:lnTo>
                  <a:pt x="8325937" y="0"/>
                </a:lnTo>
                <a:lnTo>
                  <a:pt x="8325937" y="6702379"/>
                </a:lnTo>
                <a:lnTo>
                  <a:pt x="0" y="6702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42309"/>
            <a:ext cx="8009037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Análisis</a:t>
            </a: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 Semántico (NLP)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47506" y="3382750"/>
            <a:ext cx="4431169" cy="341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2403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El trafico del UMAP muestra que las colas están distribuidas de forma caótica dentro de los grupos temáticos. La temática de los tickets y las colas no coinciden.</a:t>
            </a:r>
          </a:p>
          <a:p>
            <a:pPr algn="l">
              <a:lnSpc>
                <a:spcPts val="39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47506" y="2460671"/>
            <a:ext cx="48712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UMAP por colas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532358"/>
            <a:ext cx="10079997" cy="7754642"/>
          </a:xfrm>
          <a:custGeom>
            <a:avLst/>
            <a:gdLst/>
            <a:ahLst/>
            <a:cxnLst/>
            <a:rect r="r" b="b" t="t" l="l"/>
            <a:pathLst>
              <a:path h="7754642" w="10079997">
                <a:moveTo>
                  <a:pt x="0" y="0"/>
                </a:moveTo>
                <a:lnTo>
                  <a:pt x="10079997" y="0"/>
                </a:lnTo>
                <a:lnTo>
                  <a:pt x="10079997" y="7754642"/>
                </a:lnTo>
                <a:lnTo>
                  <a:pt x="0" y="7754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1" t="0" r="-28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42309"/>
            <a:ext cx="8009037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Análisis</a:t>
            </a: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 Semántico (NLP)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79903" y="3359188"/>
            <a:ext cx="4431169" cy="292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2403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El clustering con embeddings reveló nueve grupos temáticos bien definidos. UMAP visualiza estos grupos de forma clara y sin superposición.</a:t>
            </a:r>
          </a:p>
          <a:p>
            <a:pPr algn="l">
              <a:lnSpc>
                <a:spcPts val="391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379903" y="2437108"/>
            <a:ext cx="520883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C7CDD6"/>
                </a:solidFill>
                <a:latin typeface="Open Sans"/>
                <a:ea typeface="Open Sans"/>
                <a:cs typeface="Open Sans"/>
                <a:sym typeface="Open Sans"/>
              </a:rPr>
              <a:t>UMAP por temas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1506736"/>
            <a:ext cx="11778779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Insights del Análisis Semántico (NLP)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79736" y="5071765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9 Grupos Temáticos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7" y="5637163"/>
            <a:ext cx="473154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Identificados claramente en los tickets.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6934646" y="5657701"/>
            <a:ext cx="424160" cy="424160"/>
          </a:xfrm>
          <a:custGeom>
            <a:avLst/>
            <a:gdLst/>
            <a:ahLst/>
            <a:cxnLst/>
            <a:rect r="r" b="b" t="t" l="l"/>
            <a:pathLst>
              <a:path h="424160" w="424160">
                <a:moveTo>
                  <a:pt x="0" y="0"/>
                </a:moveTo>
                <a:lnTo>
                  <a:pt x="424160" y="0"/>
                </a:lnTo>
                <a:lnTo>
                  <a:pt x="424160" y="424160"/>
                </a:lnTo>
                <a:lnTo>
                  <a:pt x="0" y="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22237" y="3652243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Desalineación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22237" y="4217640"/>
            <a:ext cx="487352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Colas actuales no coinciden con los grupos.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9930407" y="3928170"/>
            <a:ext cx="424160" cy="424160"/>
          </a:xfrm>
          <a:custGeom>
            <a:avLst/>
            <a:gdLst/>
            <a:ahLst/>
            <a:cxnLst/>
            <a:rect r="r" b="b" t="t" l="l"/>
            <a:pathLst>
              <a:path h="424160" w="424160">
                <a:moveTo>
                  <a:pt x="0" y="0"/>
                </a:moveTo>
                <a:lnTo>
                  <a:pt x="424160" y="0"/>
                </a:lnTo>
                <a:lnTo>
                  <a:pt x="424160" y="424160"/>
                </a:lnTo>
                <a:lnTo>
                  <a:pt x="0" y="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555" t="0" r="-5555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22237" y="694476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Temas Dispersos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22237" y="7510165"/>
            <a:ext cx="487352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Misma temática en múltiples colas.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9930407" y="7387232"/>
            <a:ext cx="424160" cy="424160"/>
          </a:xfrm>
          <a:custGeom>
            <a:avLst/>
            <a:gdLst/>
            <a:ahLst/>
            <a:cxnLst/>
            <a:rect r="r" b="b" t="t" l="l"/>
            <a:pathLst>
              <a:path h="424160" w="424160">
                <a:moveTo>
                  <a:pt x="0" y="0"/>
                </a:moveTo>
                <a:lnTo>
                  <a:pt x="424160" y="0"/>
                </a:lnTo>
                <a:lnTo>
                  <a:pt x="424160" y="424160"/>
                </a:lnTo>
                <a:lnTo>
                  <a:pt x="0" y="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222" t="0" r="-2222" b="0"/>
            </a:stretch>
          </a:blipFill>
        </p:spPr>
      </p:sp>
      <p:sp>
        <p:nvSpPr>
          <p:cNvPr name="AutoShape 22" id="22"/>
          <p:cNvSpPr/>
          <p:nvPr/>
        </p:nvSpPr>
        <p:spPr>
          <a:xfrm flipH="true">
            <a:off x="10354567" y="3951030"/>
            <a:ext cx="0" cy="136384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>
            <a:off x="10354567" y="4191060"/>
            <a:ext cx="0" cy="136384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92238" y="2127349"/>
            <a:ext cx="7307015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Impacto en el Negocio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49017" y="3637509"/>
            <a:ext cx="2037904" cy="1009948"/>
            <a:chOff x="0" y="0"/>
            <a:chExt cx="2717205" cy="1346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7165" cy="1346454"/>
            </a:xfrm>
            <a:custGeom>
              <a:avLst/>
              <a:gdLst/>
              <a:ahLst/>
              <a:cxnLst/>
              <a:rect r="r" b="b" t="t" l="l"/>
              <a:pathLst>
                <a:path h="1346454" w="27171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660523" y="0"/>
                  </a:lnTo>
                  <a:cubicBezTo>
                    <a:pt x="2691892" y="0"/>
                    <a:pt x="2717165" y="25400"/>
                    <a:pt x="2717165" y="56642"/>
                  </a:cubicBezTo>
                  <a:lnTo>
                    <a:pt x="2717165" y="1289812"/>
                  </a:lnTo>
                  <a:cubicBezTo>
                    <a:pt x="2717165" y="1321181"/>
                    <a:pt x="2691765" y="1346454"/>
                    <a:pt x="2660523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4868615" y="3943052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761" r="0" b="-476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70439" y="3882926"/>
            <a:ext cx="424175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Experiencia Inconsistente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28606" y="4628406"/>
            <a:ext cx="10925472" cy="19050"/>
            <a:chOff x="0" y="0"/>
            <a:chExt cx="14567297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567281" cy="25400"/>
            </a:xfrm>
            <a:custGeom>
              <a:avLst/>
              <a:gdLst/>
              <a:ahLst/>
              <a:cxnLst/>
              <a:rect r="r" b="b" t="t" l="l"/>
              <a:pathLst>
                <a:path h="25400" w="14567281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554581" y="0"/>
                  </a:lnTo>
                  <a:cubicBezTo>
                    <a:pt x="14561567" y="0"/>
                    <a:pt x="14567281" y="5715"/>
                    <a:pt x="14567281" y="12700"/>
                  </a:cubicBezTo>
                  <a:cubicBezTo>
                    <a:pt x="14567281" y="19685"/>
                    <a:pt x="14561567" y="25400"/>
                    <a:pt x="1455458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C5C6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030141" y="4789140"/>
            <a:ext cx="4075808" cy="1009948"/>
            <a:chOff x="0" y="0"/>
            <a:chExt cx="5434410" cy="13465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34330" cy="1346454"/>
            </a:xfrm>
            <a:custGeom>
              <a:avLst/>
              <a:gdLst/>
              <a:ahLst/>
              <a:cxnLst/>
              <a:rect r="r" b="b" t="t" l="l"/>
              <a:pathLst>
                <a:path h="1346454" w="543433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5377688" y="0"/>
                  </a:lnTo>
                  <a:cubicBezTo>
                    <a:pt x="5409057" y="0"/>
                    <a:pt x="5434330" y="25400"/>
                    <a:pt x="5434330" y="56642"/>
                  </a:cubicBezTo>
                  <a:lnTo>
                    <a:pt x="5434330" y="1289812"/>
                  </a:lnTo>
                  <a:cubicBezTo>
                    <a:pt x="5434330" y="1321181"/>
                    <a:pt x="5408930" y="1346454"/>
                    <a:pt x="5377688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4868615" y="5094685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89465" y="5034558"/>
            <a:ext cx="249272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Carga Excesiva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47632" y="5780037"/>
            <a:ext cx="9906446" cy="19050"/>
            <a:chOff x="0" y="0"/>
            <a:chExt cx="13208595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08636" cy="25400"/>
            </a:xfrm>
            <a:custGeom>
              <a:avLst/>
              <a:gdLst/>
              <a:ahLst/>
              <a:cxnLst/>
              <a:rect r="r" b="b" t="t" l="l"/>
              <a:pathLst>
                <a:path h="25400" w="1320863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195936" y="0"/>
                  </a:lnTo>
                  <a:cubicBezTo>
                    <a:pt x="13202921" y="0"/>
                    <a:pt x="13208636" y="5715"/>
                    <a:pt x="13208636" y="12700"/>
                  </a:cubicBezTo>
                  <a:cubicBezTo>
                    <a:pt x="13208636" y="19685"/>
                    <a:pt x="13202921" y="25400"/>
                    <a:pt x="1319593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C5C6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011115" y="5940772"/>
            <a:ext cx="6113710" cy="1009947"/>
            <a:chOff x="0" y="0"/>
            <a:chExt cx="8151613" cy="13465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51495" cy="1346454"/>
            </a:xfrm>
            <a:custGeom>
              <a:avLst/>
              <a:gdLst/>
              <a:ahLst/>
              <a:cxnLst/>
              <a:rect r="r" b="b" t="t" l="l"/>
              <a:pathLst>
                <a:path h="1346454" w="815149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8094853" y="0"/>
                  </a:lnTo>
                  <a:cubicBezTo>
                    <a:pt x="8126222" y="0"/>
                    <a:pt x="8151495" y="25400"/>
                    <a:pt x="8151495" y="56642"/>
                  </a:cubicBezTo>
                  <a:lnTo>
                    <a:pt x="8151495" y="1289812"/>
                  </a:lnTo>
                  <a:cubicBezTo>
                    <a:pt x="8151495" y="1321181"/>
                    <a:pt x="8126095" y="1346454"/>
                    <a:pt x="8094853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4868615" y="6246316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095" t="0" r="-13095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408342" y="6186190"/>
            <a:ext cx="502875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Reasignaciones y Escalaciones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66509" y="6931670"/>
            <a:ext cx="8887569" cy="19050"/>
            <a:chOff x="0" y="0"/>
            <a:chExt cx="11850092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50116" cy="25400"/>
            </a:xfrm>
            <a:custGeom>
              <a:avLst/>
              <a:gdLst/>
              <a:ahLst/>
              <a:cxnLst/>
              <a:rect r="r" b="b" t="t" l="l"/>
              <a:pathLst>
                <a:path h="25400" w="1185011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1837416" y="0"/>
                  </a:lnTo>
                  <a:cubicBezTo>
                    <a:pt x="11844401" y="0"/>
                    <a:pt x="11850116" y="5715"/>
                    <a:pt x="11850116" y="12700"/>
                  </a:cubicBezTo>
                  <a:cubicBezTo>
                    <a:pt x="11850116" y="19685"/>
                    <a:pt x="11844401" y="25400"/>
                    <a:pt x="1183741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C5C6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92237" y="7092404"/>
            <a:ext cx="8151762" cy="1009947"/>
            <a:chOff x="0" y="0"/>
            <a:chExt cx="10869017" cy="13465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68914" cy="1346454"/>
            </a:xfrm>
            <a:custGeom>
              <a:avLst/>
              <a:gdLst/>
              <a:ahLst/>
              <a:cxnLst/>
              <a:rect r="r" b="b" t="t" l="l"/>
              <a:pathLst>
                <a:path h="1346454" w="1086891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812273" y="0"/>
                  </a:lnTo>
                  <a:cubicBezTo>
                    <a:pt x="10843641" y="0"/>
                    <a:pt x="10868914" y="25400"/>
                    <a:pt x="10868914" y="56642"/>
                  </a:cubicBezTo>
                  <a:lnTo>
                    <a:pt x="10868914" y="1289812"/>
                  </a:lnTo>
                  <a:cubicBezTo>
                    <a:pt x="10868914" y="1321181"/>
                    <a:pt x="10843514" y="1346454"/>
                    <a:pt x="10812273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4868764" y="7397949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380" t="0" r="-238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427518" y="7337823"/>
            <a:ext cx="583138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Aumento del Tiempo de Resolución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8359" y="2405012"/>
            <a:ext cx="7791827" cy="6853288"/>
          </a:xfrm>
          <a:custGeom>
            <a:avLst/>
            <a:gdLst/>
            <a:ahLst/>
            <a:cxnLst/>
            <a:rect r="r" b="b" t="t" l="l"/>
            <a:pathLst>
              <a:path h="6853288" w="7791827">
                <a:moveTo>
                  <a:pt x="0" y="0"/>
                </a:moveTo>
                <a:lnTo>
                  <a:pt x="7791827" y="0"/>
                </a:lnTo>
                <a:lnTo>
                  <a:pt x="7791827" y="6853288"/>
                </a:lnTo>
                <a:lnTo>
                  <a:pt x="0" y="6853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07513" y="5372145"/>
            <a:ext cx="8802928" cy="3554182"/>
          </a:xfrm>
          <a:custGeom>
            <a:avLst/>
            <a:gdLst/>
            <a:ahLst/>
            <a:cxnLst/>
            <a:rect r="r" b="b" t="t" l="l"/>
            <a:pathLst>
              <a:path h="3554182" w="8802928">
                <a:moveTo>
                  <a:pt x="0" y="0"/>
                </a:moveTo>
                <a:lnTo>
                  <a:pt x="8802927" y="0"/>
                </a:lnTo>
                <a:lnTo>
                  <a:pt x="8802927" y="3554182"/>
                </a:lnTo>
                <a:lnTo>
                  <a:pt x="0" y="3554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8359" y="494854"/>
            <a:ext cx="6567190" cy="64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Viabilidad de Automatización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8359" y="1409534"/>
            <a:ext cx="2410197" cy="69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2174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174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ogistic Regression</a:t>
            </a:r>
          </a:p>
          <a:p>
            <a:pPr algn="l">
              <a:lnSpc>
                <a:spcPts val="275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78359" y="1815074"/>
            <a:ext cx="8229154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Logistic Regression muestra buena predicción en clústeres temáticos definidos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07513" y="2338337"/>
            <a:ext cx="8229154" cy="303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0 - Billing, Payments, Refunds &amp; Acc</a:t>
            </a: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ount Issues</a:t>
            </a:r>
          </a:p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1 - Critical Outages &amp; Performance Disruptions  </a:t>
            </a:r>
          </a:p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2 - Feature Requests, Product Improvements &amp; Feedback</a:t>
            </a:r>
          </a:p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3 - IT Outages, Network Failures &amp; System Recovery</a:t>
            </a:r>
          </a:p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4 - Mixed Feedback: Performance, Marketing &amp; IT Support</a:t>
            </a:r>
          </a:p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5 - Network Connectivity, Hardware Issues &amp; Tech Support</a:t>
            </a:r>
          </a:p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6 - Product Features, Documentation &amp; Technical Support</a:t>
            </a:r>
          </a:p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7 - Sales, Product Feedback &amp; Marketing Insights</a:t>
            </a:r>
          </a:p>
          <a:p>
            <a:pPr algn="l">
              <a:lnSpc>
                <a:spcPts val="2436"/>
              </a:lnSpc>
            </a:pPr>
            <a:r>
              <a:rPr lang="en-US" sz="1500">
                <a:solidFill>
                  <a:srgbClr val="C7CDD6"/>
                </a:solidFill>
                <a:latin typeface="Inter"/>
                <a:ea typeface="Inter"/>
                <a:cs typeface="Inter"/>
                <a:sym typeface="Inter"/>
              </a:rPr>
              <a:t>8 - Security, Compliance &amp; Data Protection</a:t>
            </a:r>
          </a:p>
          <a:p>
            <a:pPr algn="l">
              <a:lnSpc>
                <a:spcPts val="2437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98" y="586829"/>
            <a:ext cx="790976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>
                <a:solidFill>
                  <a:srgbClr val="EFD5FA"/>
                </a:solidFill>
                <a:latin typeface="Arimo"/>
                <a:ea typeface="Arimo"/>
                <a:cs typeface="Arimo"/>
                <a:sym typeface="Arimo"/>
              </a:rPr>
              <a:t>Conclusión y Resultados Clave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6797" y="1815704"/>
            <a:ext cx="921990" cy="1383060"/>
            <a:chOff x="0" y="0"/>
            <a:chExt cx="1229320" cy="1844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9360" cy="1844040"/>
            </a:xfrm>
            <a:custGeom>
              <a:avLst/>
              <a:gdLst/>
              <a:ahLst/>
              <a:cxnLst/>
              <a:rect r="r" b="b" t="t" l="l"/>
              <a:pathLst>
                <a:path h="1844040" w="1229360">
                  <a:moveTo>
                    <a:pt x="0" y="614680"/>
                  </a:moveTo>
                  <a:cubicBezTo>
                    <a:pt x="0" y="275209"/>
                    <a:pt x="275209" y="0"/>
                    <a:pt x="614680" y="0"/>
                  </a:cubicBezTo>
                  <a:cubicBezTo>
                    <a:pt x="954151" y="0"/>
                    <a:pt x="1229360" y="275209"/>
                    <a:pt x="1229360" y="614680"/>
                  </a:cubicBezTo>
                  <a:lnTo>
                    <a:pt x="1229360" y="1229360"/>
                  </a:lnTo>
                  <a:cubicBezTo>
                    <a:pt x="1229360" y="1568831"/>
                    <a:pt x="954151" y="1844040"/>
                    <a:pt x="614680" y="1844040"/>
                  </a:cubicBezTo>
                  <a:cubicBezTo>
                    <a:pt x="275209" y="1844040"/>
                    <a:pt x="0" y="1568831"/>
                    <a:pt x="0" y="1229360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94929" y="2329160"/>
            <a:ext cx="345728" cy="39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9174" y="2319115"/>
            <a:ext cx="10255969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Segm</a:t>
            </a: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entación temática sólida - base estable para automatizar decisiones.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06797" y="3429149"/>
            <a:ext cx="921990" cy="1383060"/>
            <a:chOff x="0" y="0"/>
            <a:chExt cx="1229320" cy="1844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9360" cy="1844040"/>
            </a:xfrm>
            <a:custGeom>
              <a:avLst/>
              <a:gdLst/>
              <a:ahLst/>
              <a:cxnLst/>
              <a:rect r="r" b="b" t="t" l="l"/>
              <a:pathLst>
                <a:path h="1844040" w="1229360">
                  <a:moveTo>
                    <a:pt x="0" y="614680"/>
                  </a:moveTo>
                  <a:cubicBezTo>
                    <a:pt x="0" y="275209"/>
                    <a:pt x="275209" y="0"/>
                    <a:pt x="614680" y="0"/>
                  </a:cubicBezTo>
                  <a:cubicBezTo>
                    <a:pt x="954151" y="0"/>
                    <a:pt x="1229360" y="275209"/>
                    <a:pt x="1229360" y="614680"/>
                  </a:cubicBezTo>
                  <a:lnTo>
                    <a:pt x="1229360" y="1229360"/>
                  </a:lnTo>
                  <a:cubicBezTo>
                    <a:pt x="1229360" y="1568831"/>
                    <a:pt x="954151" y="1844040"/>
                    <a:pt x="614680" y="1844040"/>
                  </a:cubicBezTo>
                  <a:cubicBezTo>
                    <a:pt x="275209" y="1844040"/>
                    <a:pt x="0" y="1568831"/>
                    <a:pt x="0" y="1229360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94929" y="3942606"/>
            <a:ext cx="345728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9174" y="3932560"/>
            <a:ext cx="8819555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98 % de prec</a:t>
            </a: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isión - mínimo riesgo de errores en la clasificación.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06797" y="5042595"/>
            <a:ext cx="921990" cy="1383060"/>
            <a:chOff x="0" y="0"/>
            <a:chExt cx="1229320" cy="1844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29360" cy="1844040"/>
            </a:xfrm>
            <a:custGeom>
              <a:avLst/>
              <a:gdLst/>
              <a:ahLst/>
              <a:cxnLst/>
              <a:rect r="r" b="b" t="t" l="l"/>
              <a:pathLst>
                <a:path h="1844040" w="1229360">
                  <a:moveTo>
                    <a:pt x="0" y="614680"/>
                  </a:moveTo>
                  <a:cubicBezTo>
                    <a:pt x="0" y="275209"/>
                    <a:pt x="275209" y="0"/>
                    <a:pt x="614680" y="0"/>
                  </a:cubicBezTo>
                  <a:cubicBezTo>
                    <a:pt x="954151" y="0"/>
                    <a:pt x="1229360" y="275209"/>
                    <a:pt x="1229360" y="614680"/>
                  </a:cubicBezTo>
                  <a:lnTo>
                    <a:pt x="1229360" y="1229360"/>
                  </a:lnTo>
                  <a:cubicBezTo>
                    <a:pt x="1229360" y="1568831"/>
                    <a:pt x="954151" y="1844040"/>
                    <a:pt x="614680" y="1844040"/>
                  </a:cubicBezTo>
                  <a:cubicBezTo>
                    <a:pt x="275209" y="1844040"/>
                    <a:pt x="0" y="1568831"/>
                    <a:pt x="0" y="1229360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94929" y="5556051"/>
            <a:ext cx="345728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59174" y="5545931"/>
            <a:ext cx="8318822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educción de tareas manuales - más eficiencia operacional.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06797" y="6656040"/>
            <a:ext cx="921990" cy="1383060"/>
            <a:chOff x="0" y="0"/>
            <a:chExt cx="1229320" cy="1844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29360" cy="1844040"/>
            </a:xfrm>
            <a:custGeom>
              <a:avLst/>
              <a:gdLst/>
              <a:ahLst/>
              <a:cxnLst/>
              <a:rect r="r" b="b" t="t" l="l"/>
              <a:pathLst>
                <a:path h="1844040" w="1229360">
                  <a:moveTo>
                    <a:pt x="0" y="614680"/>
                  </a:moveTo>
                  <a:cubicBezTo>
                    <a:pt x="0" y="275209"/>
                    <a:pt x="275209" y="0"/>
                    <a:pt x="614680" y="0"/>
                  </a:cubicBezTo>
                  <a:cubicBezTo>
                    <a:pt x="954151" y="0"/>
                    <a:pt x="1229360" y="275209"/>
                    <a:pt x="1229360" y="614680"/>
                  </a:cubicBezTo>
                  <a:lnTo>
                    <a:pt x="1229360" y="1229360"/>
                  </a:lnTo>
                  <a:cubicBezTo>
                    <a:pt x="1229360" y="1568831"/>
                    <a:pt x="954151" y="1844040"/>
                    <a:pt x="614680" y="1844040"/>
                  </a:cubicBezTo>
                  <a:cubicBezTo>
                    <a:pt x="275209" y="1844040"/>
                    <a:pt x="0" y="1568831"/>
                    <a:pt x="0" y="1229360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94929" y="7169497"/>
            <a:ext cx="345728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59174" y="7145725"/>
            <a:ext cx="9372972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Mejor gestión del fl</a:t>
            </a: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ujo de tickets - tiempos de respuesta más cortos.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06797" y="8269486"/>
            <a:ext cx="921990" cy="1383060"/>
            <a:chOff x="0" y="0"/>
            <a:chExt cx="1229320" cy="1844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29360" cy="1844040"/>
            </a:xfrm>
            <a:custGeom>
              <a:avLst/>
              <a:gdLst/>
              <a:ahLst/>
              <a:cxnLst/>
              <a:rect r="r" b="b" t="t" l="l"/>
              <a:pathLst>
                <a:path h="1844040" w="1229360">
                  <a:moveTo>
                    <a:pt x="0" y="614680"/>
                  </a:moveTo>
                  <a:cubicBezTo>
                    <a:pt x="0" y="275209"/>
                    <a:pt x="275209" y="0"/>
                    <a:pt x="614680" y="0"/>
                  </a:cubicBezTo>
                  <a:cubicBezTo>
                    <a:pt x="954151" y="0"/>
                    <a:pt x="1229360" y="275209"/>
                    <a:pt x="1229360" y="614680"/>
                  </a:cubicBezTo>
                  <a:lnTo>
                    <a:pt x="1229360" y="1229360"/>
                  </a:lnTo>
                  <a:cubicBezTo>
                    <a:pt x="1229360" y="1568831"/>
                    <a:pt x="954151" y="1844040"/>
                    <a:pt x="614680" y="1844040"/>
                  </a:cubicBezTo>
                  <a:cubicBezTo>
                    <a:pt x="275209" y="1844040"/>
                    <a:pt x="0" y="1568831"/>
                    <a:pt x="0" y="1229360"/>
                  </a:cubicBezTo>
                  <a:close/>
                </a:path>
              </a:pathLst>
            </a:custGeom>
            <a:solidFill>
              <a:srgbClr val="4343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94929" y="8782942"/>
            <a:ext cx="345728" cy="39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687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59174" y="8759170"/>
            <a:ext cx="9789170" cy="384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Base técnica lista par</a:t>
            </a:r>
            <a:r>
              <a:rPr lang="en-US" sz="2449">
                <a:solidFill>
                  <a:srgbClr val="C7CDD6"/>
                </a:solidFill>
                <a:latin typeface="Arimo"/>
                <a:ea typeface="Arimo"/>
                <a:cs typeface="Arimo"/>
                <a:sym typeface="Arimo"/>
              </a:rPr>
              <a:t>a escalar hacia un sistema de soporte inteligente.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7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096710" y="6723402"/>
            <a:ext cx="2747051" cy="2747051"/>
          </a:xfrm>
          <a:custGeom>
            <a:avLst/>
            <a:gdLst/>
            <a:ahLst/>
            <a:cxnLst/>
            <a:rect r="r" b="b" t="t" l="l"/>
            <a:pathLst>
              <a:path h="2747051" w="2747051">
                <a:moveTo>
                  <a:pt x="0" y="0"/>
                </a:moveTo>
                <a:lnTo>
                  <a:pt x="2747051" y="0"/>
                </a:lnTo>
                <a:lnTo>
                  <a:pt x="2747051" y="2747052"/>
                </a:lnTo>
                <a:lnTo>
                  <a:pt x="0" y="2747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782484"/>
            <a:ext cx="9445526" cy="2361016"/>
            <a:chOff x="0" y="0"/>
            <a:chExt cx="12594035" cy="314802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228725"/>
              <a:ext cx="12594035" cy="112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C7CDD6"/>
                  </a:solidFill>
                  <a:latin typeface="Inter"/>
                  <a:ea typeface="Inter"/>
                  <a:cs typeface="Inter"/>
                  <a:sym typeface="Inter"/>
                </a:rPr>
                <a:t>Optimización del Flujo de Atención al Cliente m</a:t>
              </a:r>
              <a:r>
                <a:rPr lang="en-US" sz="2187">
                  <a:solidFill>
                    <a:srgbClr val="C7CDD6"/>
                  </a:solidFill>
                  <a:latin typeface="Inter"/>
                  <a:ea typeface="Inter"/>
                  <a:cs typeface="Inter"/>
                  <a:sym typeface="Inter"/>
                </a:rPr>
                <a:t>ediante Análisis de Datos y NLP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457457"/>
              <a:ext cx="12594035" cy="6905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187" b="true">
                  <a:solidFill>
                    <a:srgbClr val="C7CD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Autora:</a:t>
              </a:r>
              <a:r>
                <a:rPr lang="en-US" sz="2187">
                  <a:solidFill>
                    <a:srgbClr val="C7CDD6"/>
                  </a:solidFill>
                  <a:latin typeface="Inter"/>
                  <a:ea typeface="Inter"/>
                  <a:cs typeface="Inter"/>
                  <a:sym typeface="Inter"/>
                </a:rPr>
                <a:t> Ekaterina Sorokopudova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12594035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EFD5FA"/>
                  </a:solidFill>
                  <a:latin typeface="Arimo"/>
                  <a:ea typeface="Arimo"/>
                  <a:cs typeface="Arimo"/>
                  <a:sym typeface="Arimo"/>
                </a:rPr>
                <a:t>Gr</a:t>
              </a:r>
              <a:r>
                <a:rPr lang="en-US" sz="5562">
                  <a:solidFill>
                    <a:srgbClr val="EFD5FA"/>
                  </a:solidFill>
                  <a:latin typeface="Arimo"/>
                  <a:ea typeface="Arimo"/>
                  <a:cs typeface="Arimo"/>
                  <a:sym typeface="Arimo"/>
                </a:rPr>
                <a:t>acias por su atención!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702612"/>
            <a:ext cx="9445526" cy="657225"/>
            <a:chOff x="0" y="0"/>
            <a:chExt cx="12594035" cy="8763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85725"/>
              <a:ext cx="12594035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187" b="true">
                  <a:solidFill>
                    <a:srgbClr val="C7CD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GitHub</a:t>
              </a:r>
              <a:r>
                <a:rPr lang="en-US" sz="2187" b="true">
                  <a:solidFill>
                    <a:srgbClr val="C7CD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:</a:t>
              </a:r>
              <a:r>
                <a:rPr lang="en-US" sz="2187">
                  <a:solidFill>
                    <a:srgbClr val="C7CDD6"/>
                  </a:solidFill>
                  <a:latin typeface="Inter"/>
                  <a:ea typeface="Inter"/>
                  <a:cs typeface="Inter"/>
                  <a:sym typeface="Inter"/>
                </a:rPr>
                <a:t> https://github.com/Ekatskoropud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52425"/>
              <a:ext cx="12594035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187" b="true">
                  <a:solidFill>
                    <a:srgbClr val="C7CD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LinkedIn</a:t>
              </a:r>
              <a:r>
                <a:rPr lang="en-US" sz="2187" b="true">
                  <a:solidFill>
                    <a:srgbClr val="C7CD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:</a:t>
              </a:r>
              <a:r>
                <a:rPr lang="en-US" sz="2187">
                  <a:solidFill>
                    <a:srgbClr val="C7CDD6"/>
                  </a:solidFill>
                  <a:latin typeface="Inter"/>
                  <a:ea typeface="Inter"/>
                  <a:cs typeface="Inter"/>
                  <a:sym typeface="Inter"/>
                </a:rPr>
                <a:t> https://www.linkedin.com/in/ekatskoropud/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DAG5uePBbYI</dc:identifier>
  <dcterms:modified xsi:type="dcterms:W3CDTF">2011-08-01T06:04:30Z</dcterms:modified>
  <cp:revision>1</cp:revision>
  <dc:title>Optimizacion-del-Flujo-de-Atencion-al-Cliente.pptx</dc:title>
</cp:coreProperties>
</file>